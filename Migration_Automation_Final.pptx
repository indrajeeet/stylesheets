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effort</c:v>
                </c:pt>
              </c:strCache>
            </c:strRef>
          </c:tx>
          <c:spPr>
            <a:solidFill>
              <a:srgbClr val="B8CBC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CB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38-42D4-A847-7256D85AD3EF}"/>
              </c:ext>
            </c:extLst>
          </c:dPt>
          <c:dPt>
            <c:idx val="1"/>
            <c:invertIfNegative val="0"/>
            <c:bubble3D val="0"/>
            <c:spPr>
              <a:solidFill>
                <a:srgbClr val="C99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38-42D4-A847-7256D85AD3EF}"/>
              </c:ext>
            </c:extLst>
          </c:dPt>
          <c:cat>
            <c:strRef>
              <c:f>Sheet1!$A$2:$A$3</c:f>
              <c:strCache>
                <c:ptCount val="2"/>
                <c:pt idx="0">
                  <c:v>Manual
Process</c:v>
                </c:pt>
                <c:pt idx="1">
                  <c:v>With Automation
Suite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38-42D4-A847-7256D85AD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EEF4F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EF4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687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hart" Target="../charts/chart1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An Engineered Migration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→ Apache Hop · three autonomous tools chained into one self-running SDLC stage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68680" cy="1234440"/>
          </a:xfrm>
          <a:prstGeom prst="roundRect">
            <a:avLst>
              <a:gd name="adj" fmla="val 6316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kern="0" spc="100" dirty="0">
                <a:solidFill>
                  <a:srgbClr val="00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68680" cy="1234440"/>
          </a:xfrm>
          <a:prstGeom prst="roundRect">
            <a:avLst>
              <a:gd name="adj" fmla="val 6316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kern="0" spc="100" dirty="0">
                <a:solidFill>
                  <a:srgbClr val="00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68680" cy="1234440"/>
          </a:xfrm>
          <a:prstGeom prst="roundRect">
            <a:avLst>
              <a:gd name="adj" fmla="val 6316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052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kern="0" spc="100" dirty="0">
                <a:solidFill>
                  <a:srgbClr val="00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08760" y="1527048"/>
            <a:ext cx="2788920" cy="1005840"/>
          </a:xfrm>
          <a:prstGeom prst="roundRect">
            <a:avLst>
              <a:gd name="adj" fmla="val 6364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86537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21992" y="15270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KTR / KJB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62272" y="1527048"/>
            <a:ext cx="2788920" cy="1005840"/>
          </a:xfrm>
          <a:prstGeom prst="roundRect">
            <a:avLst>
              <a:gd name="adj" fmla="val 6364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86537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75504" y="15270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415784" y="1527048"/>
            <a:ext cx="2788920" cy="1005840"/>
          </a:xfrm>
          <a:prstGeom prst="roundRect">
            <a:avLst>
              <a:gd name="adj" fmla="val 6364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86537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29016" y="15270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Migration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(base)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856732" y="2532888"/>
            <a:ext cx="0" cy="320040"/>
          </a:xfrm>
          <a:prstGeom prst="line">
            <a:avLst/>
          </a:prstGeom>
          <a:noFill/>
          <a:ln w="19050">
            <a:solidFill>
              <a:srgbClr val="DCE5E5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1508760" y="28346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709928" y="3017520"/>
            <a:ext cx="457200" cy="457200"/>
          </a:xfrm>
          <a:prstGeom prst="ellipse">
            <a:avLst/>
          </a:prstGeom>
          <a:solidFill>
            <a:srgbClr val="00404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228" y="313182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0" y="2999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2286000" y="31821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Analyser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709928" y="3584448"/>
            <a:ext cx="22951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30-rule scoring engine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9-dimension NTCI multiplier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pattern flagging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224528" y="329184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4480560" y="28346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81728" y="3017520"/>
            <a:ext cx="457200" cy="457200"/>
          </a:xfrm>
          <a:prstGeom prst="ellipse">
            <a:avLst/>
          </a:prstGeom>
          <a:solidFill>
            <a:srgbClr val="00404A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028" y="3131820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2999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5257800" y="31821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Tool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681728" y="3584448"/>
            <a:ext cx="22951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resolver generation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artifact push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 + comments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196328" y="329184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7452360" y="28346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653528" y="3017520"/>
            <a:ext cx="457200" cy="457200"/>
          </a:xfrm>
          <a:prstGeom prst="ellipse">
            <a:avLst/>
          </a:prstGeom>
          <a:solidFill>
            <a:srgbClr val="00404A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7828" y="313182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229600" y="2999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8229600" y="31821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Harness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7653528" y="3584448"/>
            <a:ext cx="22951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vs Hop log comparator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equivalence check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Golden-output approval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829300" y="4251960"/>
            <a:ext cx="0" cy="274320"/>
          </a:xfrm>
          <a:prstGeom prst="line">
            <a:avLst/>
          </a:prstGeom>
          <a:noFill/>
          <a:ln w="19050">
            <a:solidFill>
              <a:srgbClr val="DCE5E5"/>
            </a:solidFill>
            <a:prstDash val="dash"/>
          </a:ln>
        </p:spPr>
      </p:sp>
      <p:sp>
        <p:nvSpPr>
          <p:cNvPr id="41" name="Shape 33"/>
          <p:cNvSpPr/>
          <p:nvPr/>
        </p:nvSpPr>
        <p:spPr>
          <a:xfrm>
            <a:off x="1508760" y="4270248"/>
            <a:ext cx="2788920" cy="1005840"/>
          </a:xfrm>
          <a:prstGeom prst="roundRect">
            <a:avLst>
              <a:gd name="adj" fmla="val 6364"/>
            </a:avLst>
          </a:prstGeom>
          <a:solidFill>
            <a:srgbClr val="EEF4F4"/>
          </a:solidFill>
          <a:ln w="15875">
            <a:solidFill>
              <a:srgbClr val="C99A3D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4792" y="4608576"/>
            <a:ext cx="329184" cy="32918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221992" y="42702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&amp; Prioritised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4462272" y="4270248"/>
            <a:ext cx="2788920" cy="1005840"/>
          </a:xfrm>
          <a:prstGeom prst="roundRect">
            <a:avLst>
              <a:gd name="adj" fmla="val 6364"/>
            </a:avLst>
          </a:prstGeom>
          <a:solidFill>
            <a:srgbClr val="EEF4F4"/>
          </a:solidFill>
          <a:ln w="15875">
            <a:solidFill>
              <a:srgbClr val="C99A3D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8304" y="4608576"/>
            <a:ext cx="329184" cy="32918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175504" y="42702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Hop-Native Artifacts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Bitbucket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7415784" y="4270248"/>
            <a:ext cx="2788920" cy="1005840"/>
          </a:xfrm>
          <a:prstGeom prst="roundRect">
            <a:avLst>
              <a:gd name="adj" fmla="val 6364"/>
            </a:avLst>
          </a:prstGeom>
          <a:solidFill>
            <a:srgbClr val="EEF4F4"/>
          </a:solidFill>
          <a:ln w="15875">
            <a:solidFill>
              <a:srgbClr val="C99A3D"/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1816" y="4608576"/>
            <a:ext cx="329184" cy="32918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129016" y="42702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Review-Ready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10561320" y="1417320"/>
            <a:ext cx="1143000" cy="3886200"/>
          </a:xfrm>
          <a:prstGeom prst="roundRect">
            <a:avLst>
              <a:gd name="adj" fmla="val 6400"/>
            </a:avLst>
          </a:prstGeom>
          <a:solidFill>
            <a:srgbClr val="00404A"/>
          </a:solidFill>
          <a:ln/>
        </p:spPr>
      </p:sp>
      <p:sp>
        <p:nvSpPr>
          <p:cNvPr id="51" name="Text 40"/>
          <p:cNvSpPr/>
          <p:nvPr/>
        </p:nvSpPr>
        <p:spPr>
          <a:xfrm>
            <a:off x="10561320" y="1554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D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Hundreds</a:t>
            </a:r>
            <a:endParaRPr lang="en-US" sz="1350" dirty="0"/>
          </a:p>
        </p:txBody>
      </p:sp>
      <p:sp>
        <p:nvSpPr>
          <p:cNvPr id="52" name="Text 41"/>
          <p:cNvSpPr/>
          <p:nvPr/>
        </p:nvSpPr>
        <p:spPr>
          <a:xfrm>
            <a:off x="10561320" y="19019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KTR/KJB files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800" dirty="0"/>
          </a:p>
        </p:txBody>
      </p:sp>
      <p:sp>
        <p:nvSpPr>
          <p:cNvPr id="53" name="Shape 42"/>
          <p:cNvSpPr/>
          <p:nvPr/>
        </p:nvSpPr>
        <p:spPr>
          <a:xfrm>
            <a:off x="10698480" y="2423160"/>
            <a:ext cx="868680" cy="0"/>
          </a:xfrm>
          <a:prstGeom prst="line">
            <a:avLst/>
          </a:prstGeom>
          <a:noFill/>
          <a:ln w="12700">
            <a:solidFill>
              <a:srgbClr val="2E6E78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10561320" y="25420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D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</a:t>
            </a:r>
            <a:endParaRPr lang="en-US" sz="1350" dirty="0"/>
          </a:p>
        </p:txBody>
      </p:sp>
      <p:sp>
        <p:nvSpPr>
          <p:cNvPr id="55" name="Text 44"/>
          <p:cNvSpPr/>
          <p:nvPr/>
        </p:nvSpPr>
        <p:spPr>
          <a:xfrm>
            <a:off x="10561320" y="28895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working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800" dirty="0"/>
          </a:p>
        </p:txBody>
      </p:sp>
      <p:sp>
        <p:nvSpPr>
          <p:cNvPr id="56" name="Shape 45"/>
          <p:cNvSpPr/>
          <p:nvPr/>
        </p:nvSpPr>
        <p:spPr>
          <a:xfrm>
            <a:off x="10698480" y="3410712"/>
            <a:ext cx="868680" cy="0"/>
          </a:xfrm>
          <a:prstGeom prst="line">
            <a:avLst/>
          </a:prstGeom>
          <a:noFill/>
          <a:ln w="12700">
            <a:solidFill>
              <a:srgbClr val="2E6E78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10561320" y="3529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D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Multi-year</a:t>
            </a:r>
            <a:endParaRPr lang="en-US" sz="1350" dirty="0"/>
          </a:p>
        </p:txBody>
      </p:sp>
      <p:sp>
        <p:nvSpPr>
          <p:cNvPr id="58" name="Text 47"/>
          <p:cNvSpPr/>
          <p:nvPr/>
        </p:nvSpPr>
        <p:spPr>
          <a:xfrm>
            <a:off x="10561320" y="387705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10698480" y="4398264"/>
            <a:ext cx="868680" cy="0"/>
          </a:xfrm>
          <a:prstGeom prst="line">
            <a:avLst/>
          </a:prstGeom>
          <a:noFill/>
          <a:ln w="12700">
            <a:solidFill>
              <a:srgbClr val="2E6E78"/>
            </a:solidFill>
            <a:prstDash val="solid"/>
          </a:ln>
        </p:spPr>
      </p:sp>
      <p:sp>
        <p:nvSpPr>
          <p:cNvPr id="60" name="Text 49"/>
          <p:cNvSpPr/>
          <p:nvPr/>
        </p:nvSpPr>
        <p:spPr>
          <a:xfrm>
            <a:off x="10561320" y="451713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D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1350" dirty="0"/>
          </a:p>
        </p:txBody>
      </p:sp>
      <p:sp>
        <p:nvSpPr>
          <p:cNvPr id="61" name="Text 50"/>
          <p:cNvSpPr/>
          <p:nvPr/>
        </p:nvSpPr>
        <p:spPr>
          <a:xfrm>
            <a:off x="10561320" y="48301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months,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cycle</a:t>
            </a:r>
            <a:endParaRPr lang="en-US" sz="800" dirty="0"/>
          </a:p>
        </p:txBody>
      </p:sp>
      <p:sp>
        <p:nvSpPr>
          <p:cNvPr id="62" name="Text 51"/>
          <p:cNvSpPr/>
          <p:nvPr/>
        </p:nvSpPr>
        <p:spPr>
          <a:xfrm>
            <a:off x="457200" y="5440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didn't build three tools. I built a system — each stage hands off validated state to the next, with no manual handoff in between.</a:t>
            </a:r>
            <a:endParaRPr lang="en-US" sz="1200" dirty="0"/>
          </a:p>
        </p:txBody>
      </p:sp>
      <p:sp>
        <p:nvSpPr>
          <p:cNvPr id="63" name="Shape 5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64" name="Text 53"/>
          <p:cNvSpPr/>
          <p:nvPr/>
        </p:nvSpPr>
        <p:spPr>
          <a:xfrm>
            <a:off x="457200" y="5989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0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 →  DEVELOP  →  VALIDATE</a:t>
            </a:r>
            <a:r>
              <a:rPr lang="en-US" sz="120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|      Each arrow above is a tool, not a task.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Pipeline: Data Flow &amp; Technical Detail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stage consumes, computes, and emits — the engineering, not just the outcome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1078992"/>
          </a:xfrm>
          <a:prstGeom prst="roundRect">
            <a:avLst>
              <a:gd name="adj" fmla="val 5085"/>
            </a:avLst>
          </a:prstGeom>
          <a:solidFill>
            <a:srgbClr val="FAFBFD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5" name="Shape 3"/>
          <p:cNvSpPr/>
          <p:nvPr/>
        </p:nvSpPr>
        <p:spPr>
          <a:xfrm>
            <a:off x="658368" y="1463040"/>
            <a:ext cx="493776" cy="493776"/>
          </a:xfrm>
          <a:prstGeom prst="ellipse">
            <a:avLst/>
          </a:prstGeom>
          <a:solidFill>
            <a:srgbClr val="0040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819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261872"/>
            <a:ext cx="1783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· Complexity Analyser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46120" y="12618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246120" y="1517904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project/s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metadata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61888" y="1545336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72200" y="12618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72200" y="1517904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31 technical rules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9-dim NTCI multiplier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887968" y="1545336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98280" y="12618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098280" y="1517904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8368" y="22494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340864"/>
            <a:ext cx="11247120" cy="1078992"/>
          </a:xfrm>
          <a:prstGeom prst="roundRect">
            <a:avLst>
              <a:gd name="adj" fmla="val 5085"/>
            </a:avLst>
          </a:prstGeom>
          <a:solidFill>
            <a:srgbClr val="FAFBFD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2633472"/>
            <a:ext cx="493776" cy="493776"/>
          </a:xfrm>
          <a:prstGeom prst="ellipse">
            <a:avLst/>
          </a:prstGeom>
          <a:solidFill>
            <a:srgbClr val="00404A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5234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98448" y="2432304"/>
            <a:ext cx="1783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Migration Tool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246120" y="24323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246120" y="2688336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migration utility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backlog item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961888" y="2715768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172200" y="24323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172200" y="2688336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base migration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variable resolvers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code-review pass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8887968" y="2715768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9098280" y="24323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9098280" y="2688336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Hop-native pipeline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commit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comments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58368" y="341985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519922"/>
            <a:ext cx="11247120" cy="1078992"/>
          </a:xfrm>
          <a:prstGeom prst="roundRect">
            <a:avLst>
              <a:gd name="adj" fmla="val 5085"/>
            </a:avLst>
          </a:prstGeom>
          <a:solidFill>
            <a:srgbClr val="FAFBFD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58368" y="3803904"/>
            <a:ext cx="493776" cy="493776"/>
          </a:xfrm>
          <a:prstGeom prst="ellipse">
            <a:avLst/>
          </a:prstGeom>
          <a:solidFill>
            <a:srgbClr val="00404A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22776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98448" y="3602736"/>
            <a:ext cx="1783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Test Harness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3246120" y="36027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3246120" y="38587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runtime logs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runtime logs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5961888" y="388620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6172200" y="36027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172200" y="38587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log diff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scoring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Golden-output check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8887968" y="388620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9098280" y="36027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9098280" y="38587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verdict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report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457200" y="4700016"/>
            <a:ext cx="11247120" cy="1143000"/>
          </a:xfrm>
          <a:prstGeom prst="roundRect">
            <a:avLst>
              <a:gd name="adj" fmla="val 4800"/>
            </a:avLst>
          </a:prstGeom>
          <a:solidFill>
            <a:srgbClr val="FAFBFD"/>
          </a:solidFill>
          <a:ln w="15875">
            <a:solidFill>
              <a:srgbClr val="C99A3D"/>
            </a:solidFill>
            <a:prstDash val="dash"/>
          </a:ln>
        </p:spPr>
      </p:sp>
      <p:sp>
        <p:nvSpPr>
          <p:cNvPr id="43" name="Text 38"/>
          <p:cNvSpPr/>
          <p:nvPr/>
        </p:nvSpPr>
        <p:spPr>
          <a:xfrm>
            <a:off x="685800" y="4818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EXECUTION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685800" y="511149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Drop a real screenshot here: tool output, Bitbucket commit, or an auto-generated review comment ]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457200" y="5971032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00404A"/>
          </a:solidFill>
          <a:ln/>
        </p:spPr>
      </p:sp>
      <p:sp>
        <p:nvSpPr>
          <p:cNvPr id="46" name="Text 41"/>
          <p:cNvSpPr/>
          <p:nvPr/>
        </p:nvSpPr>
        <p:spPr>
          <a:xfrm>
            <a:off x="685800" y="59710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auditable  ·  Idempotent re-runs  ·  Bitbucket as system of record  ·  Days, not months, per cycle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Trajectory, and the Closed-Loop Vision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effort compression today, and the architecture to make the system self-tuning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120640" cy="2788920"/>
          </a:xfrm>
          <a:prstGeom prst="roundRect">
            <a:avLst>
              <a:gd name="adj" fmla="val 2623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81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MIGRATION CYCLE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13232" y="1783080"/>
          <a:ext cx="46177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13232" y="382219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relative effort, not measured days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806440" y="132588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49047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1032" y="1810512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971032" y="229514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one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8503920" y="132588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149047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9932" y="1865376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668512" y="229514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KTR/KJB files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migration scope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806440" y="2834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299923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71032" y="3284766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971032" y="380390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months 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cycle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8503920" y="2834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EF4F4"/>
          </a:solidFill>
          <a:ln w="12700">
            <a:solidFill>
              <a:srgbClr val="DCE5E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299923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99932" y="333247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668512" y="380390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now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auto-reviewed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45720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SDLC — NEXT PHASE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70916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00404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5316" y="482803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" y="516636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2606040" y="470916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2770632" y="470916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00404A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8748" y="4828032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843784" y="516636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4919472" y="470916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5084064" y="470916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00404A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2180" y="4828032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57216" y="516636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Secrets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(AES + init-container)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7232904" y="470916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27"/>
          <p:cNvSpPr/>
          <p:nvPr/>
        </p:nvSpPr>
        <p:spPr>
          <a:xfrm>
            <a:off x="7397496" y="470916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00404A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5612" y="4828032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70648" y="516636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40" name="Text 29"/>
          <p:cNvSpPr/>
          <p:nvPr/>
        </p:nvSpPr>
        <p:spPr>
          <a:xfrm>
            <a:off x="9546336" y="470916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0"/>
          <p:cNvSpPr/>
          <p:nvPr/>
        </p:nvSpPr>
        <p:spPr>
          <a:xfrm>
            <a:off x="9710928" y="470916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00404A"/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39044" y="4828032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784080" y="516636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Engine</a:t>
            </a:r>
            <a:endParaRPr lang="en-US" sz="950" dirty="0"/>
          </a:p>
        </p:txBody>
      </p:sp>
      <p:sp>
        <p:nvSpPr>
          <p:cNvPr id="44" name="Text 32"/>
          <p:cNvSpPr/>
          <p:nvPr/>
        </p:nvSpPr>
        <p:spPr>
          <a:xfrm>
            <a:off x="457200" y="57790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closing the loop </a:t>
            </a:r>
            <a:r>
              <a:rPr lang="en-US" sz="1300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system tunes its own estimates from real outcomes, cycle over cycle.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431</Words>
  <Application>Microsoft Office PowerPoint</Application>
  <PresentationFormat>Widescreen</PresentationFormat>
  <Paragraphs>135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Pentaho to Hop Migration Automation Suite</dc:title>
  <dc:subject>PptxGenJS Presentation</dc:subject>
  <dc:creator>Indrajeet</dc:creator>
  <cp:lastModifiedBy>Indrajeet Kumar</cp:lastModifiedBy>
  <cp:revision>6</cp:revision>
  <dcterms:created xsi:type="dcterms:W3CDTF">2026-06-20T05:00:34Z</dcterms:created>
  <dcterms:modified xsi:type="dcterms:W3CDTF">2026-07-03T05:36:08Z</dcterms:modified>
</cp:coreProperties>
</file>