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98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6400800" cy="841248"/>
          </a:xfrm>
          <a:prstGeom prst="rect">
            <a:avLst/>
          </a:prstGeom>
          <a:solidFill>
            <a:srgbClr val="0F2A44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21792" y="29260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to Apache Hop Migration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1170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Overview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474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34072" y="292608"/>
            <a:ext cx="1153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434072" y="566928"/>
            <a:ext cx="1153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418" y="3474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44330" y="292608"/>
            <a:ext cx="1153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044330" y="566928"/>
            <a:ext cx="1153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Teams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677" y="34747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54589" y="292608"/>
            <a:ext cx="1153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0654589" y="566928"/>
            <a:ext cx="1153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&amp; Confident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65760" y="1481328"/>
            <a:ext cx="3246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5760" y="1481328"/>
            <a:ext cx="324612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6" name="Shape 11"/>
          <p:cNvSpPr/>
          <p:nvPr/>
        </p:nvSpPr>
        <p:spPr>
          <a:xfrm>
            <a:off x="448056" y="15270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7" name="Text 12"/>
          <p:cNvSpPr/>
          <p:nvPr/>
        </p:nvSpPr>
        <p:spPr>
          <a:xfrm>
            <a:off x="448056" y="1527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58952" y="14813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93776" y="1847088"/>
            <a:ext cx="29900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3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limitations (VM-based, manual, inconsistent)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3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cloud-native, scalable platform</a:t>
            </a:r>
            <a:endParaRPr lang="en-US" sz="930" dirty="0"/>
          </a:p>
          <a:p>
            <a:pPr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3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standardised, automated ETL delivery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3749040" y="1481328"/>
            <a:ext cx="3246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749040" y="1481328"/>
            <a:ext cx="324612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2" name="Shape 17"/>
          <p:cNvSpPr/>
          <p:nvPr/>
        </p:nvSpPr>
        <p:spPr>
          <a:xfrm>
            <a:off x="3831336" y="15270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3" name="Text 18"/>
          <p:cNvSpPr/>
          <p:nvPr/>
        </p:nvSpPr>
        <p:spPr>
          <a:xfrm>
            <a:off x="3831336" y="1527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142232" y="1481328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Hop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877056" y="1847088"/>
            <a:ext cx="29900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250"/>
              </a:spcAft>
              <a:buSzPct val="100000"/>
              <a:buChar char="▪"/>
            </a:pPr>
            <a:r>
              <a:rPr lang="en-US" sz="8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Metadata-driven, not code-heavy</a:t>
            </a:r>
            <a:endParaRPr lang="en-US" sz="860" dirty="0"/>
          </a:p>
          <a:p>
            <a:pPr marL="152400" indent="-152400">
              <a:lnSpc>
                <a:spcPct val="108000"/>
              </a:lnSpc>
              <a:spcAft>
                <a:spcPts val="250"/>
              </a:spcAft>
              <a:buSzPct val="100000"/>
              <a:buChar char="▪"/>
            </a:pPr>
            <a:r>
              <a:rPr lang="en-US" sz="8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engine-agnostic architecture</a:t>
            </a:r>
            <a:endParaRPr lang="en-US" sz="860" dirty="0"/>
          </a:p>
          <a:p>
            <a:pPr marL="152400" indent="-152400">
              <a:lnSpc>
                <a:spcPct val="108000"/>
              </a:lnSpc>
              <a:spcAft>
                <a:spcPts val="250"/>
              </a:spcAft>
              <a:buSzPct val="100000"/>
              <a:buChar char="▪"/>
            </a:pPr>
            <a:r>
              <a:rPr lang="en-US" sz="8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open-source ecosystem</a:t>
            </a:r>
            <a:endParaRPr lang="en-US" sz="860" dirty="0"/>
          </a:p>
          <a:p>
            <a:pPr marL="152400" indent="-152400">
              <a:lnSpc>
                <a:spcPct val="108000"/>
              </a:lnSpc>
              <a:spcAft>
                <a:spcPts val="250"/>
              </a:spcAft>
              <a:buSzPct val="100000"/>
              <a:buChar char="▪"/>
            </a:pPr>
            <a:r>
              <a:rPr lang="en-US" sz="8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web-ready UI</a:t>
            </a:r>
            <a:endParaRPr lang="en-US" sz="860" dirty="0"/>
          </a:p>
          <a:p>
            <a:pPr marL="152400" indent="-152400">
              <a:lnSpc>
                <a:spcPct val="108000"/>
              </a:lnSpc>
              <a:spcAft>
                <a:spcPts val="250"/>
              </a:spcAft>
              <a:buSzPct val="100000"/>
              <a:buChar char="▪"/>
            </a:pPr>
            <a:r>
              <a:rPr lang="en-US" sz="8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lifecycle management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7132320" y="1481328"/>
            <a:ext cx="469087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32320" y="1481328"/>
            <a:ext cx="4690872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28" name="Shape 23"/>
          <p:cNvSpPr/>
          <p:nvPr/>
        </p:nvSpPr>
        <p:spPr>
          <a:xfrm>
            <a:off x="7214616" y="15270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9" name="Text 24"/>
          <p:cNvSpPr/>
          <p:nvPr/>
        </p:nvSpPr>
        <p:spPr>
          <a:xfrm>
            <a:off x="7214616" y="1527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7525512" y="1481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6698" y="1901952"/>
            <a:ext cx="384048" cy="3840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3" name="Text 27"/>
          <p:cNvSpPr/>
          <p:nvPr/>
        </p:nvSpPr>
        <p:spPr>
          <a:xfrm>
            <a:off x="7196328" y="2368296"/>
            <a:ext cx="824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</a:t>
            </a:r>
            <a:endParaRPr lang="en-US" sz="76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4541" y="1975104"/>
            <a:ext cx="182880" cy="182880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4581" y="1888236"/>
            <a:ext cx="384048" cy="3840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7" name="Text 29"/>
          <p:cNvSpPr/>
          <p:nvPr/>
        </p:nvSpPr>
        <p:spPr>
          <a:xfrm>
            <a:off x="8130845" y="2368296"/>
            <a:ext cx="824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(Kubernetes)</a:t>
            </a:r>
            <a:endParaRPr lang="en-US" sz="76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9058" y="1975104"/>
            <a:ext cx="182880" cy="182880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5732" y="1901952"/>
            <a:ext cx="384048" cy="3840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1" name="Text 31"/>
          <p:cNvSpPr/>
          <p:nvPr/>
        </p:nvSpPr>
        <p:spPr>
          <a:xfrm>
            <a:off x="9065362" y="2368296"/>
            <a:ext cx="824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76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3574" y="1975104"/>
            <a:ext cx="182880" cy="182880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3614" y="1947672"/>
            <a:ext cx="384048" cy="3840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5" name="Text 33"/>
          <p:cNvSpPr/>
          <p:nvPr/>
        </p:nvSpPr>
        <p:spPr>
          <a:xfrm>
            <a:off x="9999878" y="2368296"/>
            <a:ext cx="824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76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091" y="1975104"/>
            <a:ext cx="182880" cy="182880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332" y="1883664"/>
            <a:ext cx="384048" cy="3840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9" name="Text 35"/>
          <p:cNvSpPr/>
          <p:nvPr/>
        </p:nvSpPr>
        <p:spPr>
          <a:xfrm>
            <a:off x="10934395" y="2368296"/>
            <a:ext cx="824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EFS /</a:t>
            </a:r>
            <a:endParaRPr lang="en-US" sz="76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76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APIs</a:t>
            </a:r>
            <a:endParaRPr lang="en-US" sz="760" dirty="0"/>
          </a:p>
        </p:txBody>
      </p:sp>
      <p:sp>
        <p:nvSpPr>
          <p:cNvPr id="50" name="Shape 36"/>
          <p:cNvSpPr/>
          <p:nvPr/>
        </p:nvSpPr>
        <p:spPr>
          <a:xfrm>
            <a:off x="7242048" y="2651760"/>
            <a:ext cx="4471416" cy="219456"/>
          </a:xfrm>
          <a:prstGeom prst="rect">
            <a:avLst/>
          </a:prstGeom>
          <a:solidFill>
            <a:srgbClr val="E7F2F3"/>
          </a:solidFill>
          <a:ln/>
        </p:spPr>
      </p:sp>
      <p:sp>
        <p:nvSpPr>
          <p:cNvPr id="51" name="Text 37"/>
          <p:cNvSpPr/>
          <p:nvPr/>
        </p:nvSpPr>
        <p:spPr>
          <a:xfrm>
            <a:off x="7242048" y="2651760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•  Scalable  •  Standardised  •  Observable</a:t>
            </a:r>
            <a:endParaRPr lang="en-US" sz="860" dirty="0"/>
          </a:p>
        </p:txBody>
      </p:sp>
      <p:sp>
        <p:nvSpPr>
          <p:cNvPr id="52" name="Shape 38"/>
          <p:cNvSpPr/>
          <p:nvPr/>
        </p:nvSpPr>
        <p:spPr>
          <a:xfrm>
            <a:off x="365760" y="3081528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365760" y="3081528"/>
            <a:ext cx="251460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54" name="Shape 40"/>
          <p:cNvSpPr/>
          <p:nvPr/>
        </p:nvSpPr>
        <p:spPr>
          <a:xfrm>
            <a:off x="448056" y="31272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55" name="Text 41"/>
          <p:cNvSpPr/>
          <p:nvPr/>
        </p:nvSpPr>
        <p:spPr>
          <a:xfrm>
            <a:off x="448056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56" name="Text 42"/>
          <p:cNvSpPr/>
          <p:nvPr/>
        </p:nvSpPr>
        <p:spPr>
          <a:xfrm>
            <a:off x="758952" y="30815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Approach</a:t>
            </a:r>
            <a:endParaRPr lang="en-US" sz="1150" dirty="0"/>
          </a:p>
        </p:txBody>
      </p:sp>
      <p:sp>
        <p:nvSpPr>
          <p:cNvPr id="57" name="Text 43"/>
          <p:cNvSpPr/>
          <p:nvPr/>
        </p:nvSpPr>
        <p:spPr>
          <a:xfrm>
            <a:off x="484632" y="3447288"/>
            <a:ext cx="22951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migration (no big bang)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Tranche → Parallel Run → Rollout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and Hop run side by side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accelerator will be used</a:t>
            </a:r>
            <a:endParaRPr lang="en-US" sz="820" dirty="0"/>
          </a:p>
        </p:txBody>
      </p:sp>
      <p:sp>
        <p:nvSpPr>
          <p:cNvPr id="58" name="Shape 44"/>
          <p:cNvSpPr/>
          <p:nvPr/>
        </p:nvSpPr>
        <p:spPr>
          <a:xfrm>
            <a:off x="2999232" y="3081528"/>
            <a:ext cx="2514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45"/>
          <p:cNvSpPr/>
          <p:nvPr/>
        </p:nvSpPr>
        <p:spPr>
          <a:xfrm>
            <a:off x="2999232" y="3081528"/>
            <a:ext cx="251460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60" name="Shape 46"/>
          <p:cNvSpPr/>
          <p:nvPr/>
        </p:nvSpPr>
        <p:spPr>
          <a:xfrm>
            <a:off x="3081528" y="31272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1" name="Text 47"/>
          <p:cNvSpPr/>
          <p:nvPr/>
        </p:nvSpPr>
        <p:spPr>
          <a:xfrm>
            <a:off x="3081528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62" name="Text 48"/>
          <p:cNvSpPr/>
          <p:nvPr/>
        </p:nvSpPr>
        <p:spPr>
          <a:xfrm>
            <a:off x="3392424" y="30815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Teams</a:t>
            </a:r>
            <a:endParaRPr lang="en-US" sz="1150" dirty="0"/>
          </a:p>
        </p:txBody>
      </p:sp>
      <p:sp>
        <p:nvSpPr>
          <p:cNvPr id="63" name="Text 49"/>
          <p:cNvSpPr/>
          <p:nvPr/>
        </p:nvSpPr>
        <p:spPr>
          <a:xfrm>
            <a:off x="3118104" y="3447288"/>
            <a:ext cx="22951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VM → container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platform frameworks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standards (no custom patterns)</a:t>
            </a:r>
            <a:endParaRPr lang="en-US" sz="82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2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consistent and repeatable delivery</a:t>
            </a:r>
            <a:endParaRPr lang="en-US" sz="820" dirty="0"/>
          </a:p>
        </p:txBody>
      </p:sp>
      <p:sp>
        <p:nvSpPr>
          <p:cNvPr id="64" name="Shape 50"/>
          <p:cNvSpPr/>
          <p:nvPr/>
        </p:nvSpPr>
        <p:spPr>
          <a:xfrm>
            <a:off x="5632704" y="3081528"/>
            <a:ext cx="32918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51"/>
          <p:cNvSpPr/>
          <p:nvPr/>
        </p:nvSpPr>
        <p:spPr>
          <a:xfrm>
            <a:off x="5632704" y="3081528"/>
            <a:ext cx="329184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66" name="Shape 52"/>
          <p:cNvSpPr/>
          <p:nvPr/>
        </p:nvSpPr>
        <p:spPr>
          <a:xfrm>
            <a:off x="5715000" y="31272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7" name="Text 53"/>
          <p:cNvSpPr/>
          <p:nvPr/>
        </p:nvSpPr>
        <p:spPr>
          <a:xfrm>
            <a:off x="5715000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68" name="Text 54"/>
          <p:cNvSpPr/>
          <p:nvPr/>
        </p:nvSpPr>
        <p:spPr>
          <a:xfrm>
            <a:off x="6025896" y="308152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vs Project Roles</a:t>
            </a:r>
            <a:endParaRPr lang="en-US" sz="1150" dirty="0"/>
          </a:p>
        </p:txBody>
      </p:sp>
      <p:sp>
        <p:nvSpPr>
          <p:cNvPr id="69" name="Shape 55"/>
          <p:cNvSpPr/>
          <p:nvPr/>
        </p:nvSpPr>
        <p:spPr>
          <a:xfrm>
            <a:off x="5751576" y="3447288"/>
            <a:ext cx="1453896" cy="201168"/>
          </a:xfrm>
          <a:prstGeom prst="roundRect">
            <a:avLst>
              <a:gd name="adj" fmla="val 27273"/>
            </a:avLst>
          </a:prstGeom>
          <a:solidFill>
            <a:srgbClr val="0F2A44"/>
          </a:solidFill>
          <a:ln/>
        </p:spPr>
      </p:sp>
      <p:sp>
        <p:nvSpPr>
          <p:cNvPr id="70" name="Text 56"/>
          <p:cNvSpPr/>
          <p:nvPr/>
        </p:nvSpPr>
        <p:spPr>
          <a:xfrm>
            <a:off x="5751576" y="3447288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</a:t>
            </a:r>
            <a:endParaRPr lang="en-US" sz="860" dirty="0"/>
          </a:p>
        </p:txBody>
      </p:sp>
      <p:sp>
        <p:nvSpPr>
          <p:cNvPr id="71" name="Text 57"/>
          <p:cNvSpPr/>
          <p:nvPr/>
        </p:nvSpPr>
        <p:spPr>
          <a:xfrm>
            <a:off x="5751576" y="37033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runtime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maintains frameworks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standards &amp; patterns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tooling &amp; platform services</a:t>
            </a:r>
            <a:endParaRPr lang="en-US" sz="740" dirty="0"/>
          </a:p>
        </p:txBody>
      </p:sp>
      <p:sp>
        <p:nvSpPr>
          <p:cNvPr id="72" name="Shape 58"/>
          <p:cNvSpPr/>
          <p:nvPr/>
        </p:nvSpPr>
        <p:spPr>
          <a:xfrm>
            <a:off x="7342632" y="3447288"/>
            <a:ext cx="1453896" cy="201168"/>
          </a:xfrm>
          <a:prstGeom prst="roundRect">
            <a:avLst>
              <a:gd name="adj" fmla="val 27273"/>
            </a:avLst>
          </a:prstGeom>
          <a:solidFill>
            <a:srgbClr val="0E7C86"/>
          </a:solidFill>
          <a:ln/>
        </p:spPr>
      </p:sp>
      <p:sp>
        <p:nvSpPr>
          <p:cNvPr id="73" name="Text 59"/>
          <p:cNvSpPr/>
          <p:nvPr/>
        </p:nvSpPr>
        <p:spPr>
          <a:xfrm>
            <a:off x="7342632" y="3447288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Teams</a:t>
            </a:r>
            <a:endParaRPr lang="en-US" sz="860" dirty="0"/>
          </a:p>
        </p:txBody>
      </p:sp>
      <p:sp>
        <p:nvSpPr>
          <p:cNvPr id="74" name="Text 60"/>
          <p:cNvSpPr/>
          <p:nvPr/>
        </p:nvSpPr>
        <p:spPr>
          <a:xfrm>
            <a:off x="7342632" y="3703320"/>
            <a:ext cx="1481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pipelines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test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workloads</a:t>
            </a:r>
            <a:endParaRPr lang="en-US" sz="74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4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standards &amp; use platform components</a:t>
            </a:r>
            <a:endParaRPr lang="en-US" sz="740" dirty="0"/>
          </a:p>
        </p:txBody>
      </p:sp>
      <p:sp>
        <p:nvSpPr>
          <p:cNvPr id="75" name="Shape 61"/>
          <p:cNvSpPr/>
          <p:nvPr/>
        </p:nvSpPr>
        <p:spPr>
          <a:xfrm>
            <a:off x="9043416" y="3081528"/>
            <a:ext cx="277977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62"/>
          <p:cNvSpPr/>
          <p:nvPr/>
        </p:nvSpPr>
        <p:spPr>
          <a:xfrm>
            <a:off x="9043416" y="3081528"/>
            <a:ext cx="2779776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77" name="Shape 63"/>
          <p:cNvSpPr/>
          <p:nvPr/>
        </p:nvSpPr>
        <p:spPr>
          <a:xfrm>
            <a:off x="9125712" y="31272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8" name="Text 64"/>
          <p:cNvSpPr/>
          <p:nvPr/>
        </p:nvSpPr>
        <p:spPr>
          <a:xfrm>
            <a:off x="9125712" y="3127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79" name="Text 65"/>
          <p:cNvSpPr/>
          <p:nvPr/>
        </p:nvSpPr>
        <p:spPr>
          <a:xfrm>
            <a:off x="9436608" y="3081528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Validated</a:t>
            </a:r>
            <a:endParaRPr lang="en-US" sz="1150" dirty="0"/>
          </a:p>
        </p:txBody>
      </p:sp>
      <p:sp>
        <p:nvSpPr>
          <p:cNvPr id="80" name="Text 66"/>
          <p:cNvSpPr/>
          <p:nvPr/>
        </p:nvSpPr>
        <p:spPr>
          <a:xfrm>
            <a:off x="9162288" y="3447288"/>
            <a:ext cx="25603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of Pentaho projects</a:t>
            </a:r>
            <a:endParaRPr lang="en-US" sz="76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Jenkins &amp; Bitbucket</a:t>
            </a:r>
            <a:endParaRPr lang="en-US" sz="76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deployment (ROSA)</a:t>
            </a:r>
            <a:endParaRPr lang="en-US" sz="76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reconciliation</a:t>
            </a:r>
            <a:endParaRPr lang="en-US" sz="76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Control-M integration</a:t>
            </a:r>
            <a:endParaRPr lang="en-US" sz="76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▪"/>
            </a:pPr>
            <a:r>
              <a:rPr lang="en-US" sz="76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desktop setup for Hop</a:t>
            </a:r>
            <a:endParaRPr lang="en-US" sz="760" dirty="0"/>
          </a:p>
        </p:txBody>
      </p:sp>
      <p:sp>
        <p:nvSpPr>
          <p:cNvPr id="81" name="Shape 67"/>
          <p:cNvSpPr/>
          <p:nvPr/>
        </p:nvSpPr>
        <p:spPr>
          <a:xfrm>
            <a:off x="365760" y="4681728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Shape 68"/>
          <p:cNvSpPr/>
          <p:nvPr/>
        </p:nvSpPr>
        <p:spPr>
          <a:xfrm>
            <a:off x="365760" y="4681728"/>
            <a:ext cx="402336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83" name="Shape 69"/>
          <p:cNvSpPr/>
          <p:nvPr/>
        </p:nvSpPr>
        <p:spPr>
          <a:xfrm>
            <a:off x="448056" y="47274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84" name="Text 70"/>
          <p:cNvSpPr/>
          <p:nvPr/>
        </p:nvSpPr>
        <p:spPr>
          <a:xfrm>
            <a:off x="448056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85" name="Text 71"/>
          <p:cNvSpPr/>
          <p:nvPr/>
        </p:nvSpPr>
        <p:spPr>
          <a:xfrm>
            <a:off x="758952" y="4681728"/>
            <a:ext cx="3538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150" dirty="0"/>
          </a:p>
        </p:txBody>
      </p:sp>
      <p:pic>
        <p:nvPicPr>
          <p:cNvPr id="86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" y="5047488"/>
            <a:ext cx="329184" cy="329184"/>
          </a:xfrm>
          <a:prstGeom prst="rect">
            <a:avLst/>
          </a:prstGeom>
        </p:spPr>
      </p:pic>
      <p:sp>
        <p:nvSpPr>
          <p:cNvPr id="87" name="Text 72"/>
          <p:cNvSpPr/>
          <p:nvPr/>
        </p:nvSpPr>
        <p:spPr>
          <a:xfrm>
            <a:off x="429768" y="5422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(accelerator,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automation)</a:t>
            </a:r>
            <a:endParaRPr lang="en-US" sz="690" dirty="0"/>
          </a:p>
        </p:txBody>
      </p:sp>
      <p:pic>
        <p:nvPicPr>
          <p:cNvPr id="88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4752" y="5047488"/>
            <a:ext cx="329184" cy="329184"/>
          </a:xfrm>
          <a:prstGeom prst="rect">
            <a:avLst/>
          </a:prstGeom>
        </p:spPr>
      </p:pic>
      <p:sp>
        <p:nvSpPr>
          <p:cNvPr id="89" name="Text 73"/>
          <p:cNvSpPr/>
          <p:nvPr/>
        </p:nvSpPr>
        <p:spPr>
          <a:xfrm>
            <a:off x="1197864" y="5422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(desktop, Git,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pipelines)</a:t>
            </a:r>
            <a:endParaRPr lang="en-US" sz="690" dirty="0"/>
          </a:p>
        </p:txBody>
      </p:sp>
      <p:pic>
        <p:nvPicPr>
          <p:cNvPr id="90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2848" y="5047488"/>
            <a:ext cx="329184" cy="329184"/>
          </a:xfrm>
          <a:prstGeom prst="rect">
            <a:avLst/>
          </a:prstGeom>
        </p:spPr>
      </p:pic>
      <p:sp>
        <p:nvSpPr>
          <p:cNvPr id="91" name="Text 74"/>
          <p:cNvSpPr/>
          <p:nvPr/>
        </p:nvSpPr>
        <p:spPr>
          <a:xfrm>
            <a:off x="1965960" y="5422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(CI/CD, Docker,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ROSA)</a:t>
            </a:r>
            <a:endParaRPr lang="en-US" sz="690" dirty="0"/>
          </a:p>
        </p:txBody>
      </p:sp>
      <p:pic>
        <p:nvPicPr>
          <p:cNvPr id="92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80944" y="5047488"/>
            <a:ext cx="329184" cy="329184"/>
          </a:xfrm>
          <a:prstGeom prst="rect">
            <a:avLst/>
          </a:prstGeom>
        </p:spPr>
      </p:pic>
      <p:sp>
        <p:nvSpPr>
          <p:cNvPr id="93" name="Text 75"/>
          <p:cNvSpPr/>
          <p:nvPr/>
        </p:nvSpPr>
        <p:spPr>
          <a:xfrm>
            <a:off x="2734056" y="5422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690" dirty="0"/>
          </a:p>
        </p:txBody>
      </p:sp>
      <p:pic>
        <p:nvPicPr>
          <p:cNvPr id="94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9040" y="5047488"/>
            <a:ext cx="329184" cy="329184"/>
          </a:xfrm>
          <a:prstGeom prst="rect">
            <a:avLst/>
          </a:prstGeom>
        </p:spPr>
      </p:pic>
      <p:sp>
        <p:nvSpPr>
          <p:cNvPr id="95" name="Text 76"/>
          <p:cNvSpPr/>
          <p:nvPr/>
        </p:nvSpPr>
        <p:spPr>
          <a:xfrm>
            <a:off x="3502152" y="542239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reusable</a:t>
            </a:r>
            <a:endParaRPr lang="en-US" sz="69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690" dirty="0"/>
          </a:p>
        </p:txBody>
      </p:sp>
      <p:sp>
        <p:nvSpPr>
          <p:cNvPr id="96" name="Shape 77"/>
          <p:cNvSpPr/>
          <p:nvPr/>
        </p:nvSpPr>
        <p:spPr>
          <a:xfrm>
            <a:off x="4507992" y="4681728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Shape 78"/>
          <p:cNvSpPr/>
          <p:nvPr/>
        </p:nvSpPr>
        <p:spPr>
          <a:xfrm>
            <a:off x="4507992" y="4681728"/>
            <a:ext cx="260604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98" name="Shape 79"/>
          <p:cNvSpPr/>
          <p:nvPr/>
        </p:nvSpPr>
        <p:spPr>
          <a:xfrm>
            <a:off x="4590288" y="47274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9" name="Text 80"/>
          <p:cNvSpPr/>
          <p:nvPr/>
        </p:nvSpPr>
        <p:spPr>
          <a:xfrm>
            <a:off x="4590288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sp>
        <p:nvSpPr>
          <p:cNvPr id="100" name="Text 81"/>
          <p:cNvSpPr/>
          <p:nvPr/>
        </p:nvSpPr>
        <p:spPr>
          <a:xfrm>
            <a:off x="4901184" y="468172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Way of Working</a:t>
            </a:r>
            <a:endParaRPr lang="en-US" sz="1150" dirty="0"/>
          </a:p>
        </p:txBody>
      </p:sp>
      <p:sp>
        <p:nvSpPr>
          <p:cNvPr id="101" name="Text 82"/>
          <p:cNvSpPr/>
          <p:nvPr/>
        </p:nvSpPr>
        <p:spPr>
          <a:xfrm>
            <a:off x="4626864" y="5047488"/>
            <a:ext cx="2386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 structure for all projects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deployment model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for integrations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Bitbucket → Confluence</a:t>
            </a:r>
            <a:endParaRPr lang="en-US" sz="800" dirty="0"/>
          </a:p>
        </p:txBody>
      </p:sp>
      <p:sp>
        <p:nvSpPr>
          <p:cNvPr id="102" name="Shape 83"/>
          <p:cNvSpPr/>
          <p:nvPr/>
        </p:nvSpPr>
        <p:spPr>
          <a:xfrm>
            <a:off x="7232904" y="4681728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3" name="Shape 84"/>
          <p:cNvSpPr/>
          <p:nvPr/>
        </p:nvSpPr>
        <p:spPr>
          <a:xfrm>
            <a:off x="7232904" y="4681728"/>
            <a:ext cx="2606040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04" name="Shape 85"/>
          <p:cNvSpPr/>
          <p:nvPr/>
        </p:nvSpPr>
        <p:spPr>
          <a:xfrm>
            <a:off x="7315200" y="47274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05" name="Text 86"/>
          <p:cNvSpPr/>
          <p:nvPr/>
        </p:nvSpPr>
        <p:spPr>
          <a:xfrm>
            <a:off x="7315200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106" name="Text 87"/>
          <p:cNvSpPr/>
          <p:nvPr/>
        </p:nvSpPr>
        <p:spPr>
          <a:xfrm>
            <a:off x="7626096" y="468172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07" name="Text 88"/>
          <p:cNvSpPr/>
          <p:nvPr/>
        </p:nvSpPr>
        <p:spPr>
          <a:xfrm>
            <a:off x="7351776" y="5047488"/>
            <a:ext cx="2386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pilot (by July 2026)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more federated teams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standards and onboarding packs</a:t>
            </a:r>
            <a:endParaRPr lang="en-US" sz="800" dirty="0"/>
          </a:p>
          <a:p>
            <a:pPr marL="152400" indent="-152400">
              <a:lnSpc>
                <a:spcPct val="108000"/>
              </a:lnSpc>
              <a:spcAft>
                <a:spcPts val="300"/>
              </a:spcAft>
              <a:buSzPct val="100000"/>
              <a:buChar char="▪"/>
            </a:pPr>
            <a:r>
              <a:rPr lang="en-US" sz="8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tranche-based migration</a:t>
            </a:r>
            <a:endParaRPr lang="en-US" sz="800" dirty="0"/>
          </a:p>
        </p:txBody>
      </p:sp>
      <p:sp>
        <p:nvSpPr>
          <p:cNvPr id="108" name="Shape 89"/>
          <p:cNvSpPr/>
          <p:nvPr/>
        </p:nvSpPr>
        <p:spPr>
          <a:xfrm>
            <a:off x="9957816" y="4681728"/>
            <a:ext cx="1865376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8"/>
            </a:solidFill>
            <a:prstDash val="solid"/>
          </a:ln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9" name="Shape 90"/>
          <p:cNvSpPr/>
          <p:nvPr/>
        </p:nvSpPr>
        <p:spPr>
          <a:xfrm>
            <a:off x="9957816" y="4681728"/>
            <a:ext cx="1865376" cy="310896"/>
          </a:xfrm>
          <a:prstGeom prst="rect">
            <a:avLst/>
          </a:prstGeom>
          <a:solidFill>
            <a:srgbClr val="0F2A44"/>
          </a:solidFill>
          <a:ln/>
        </p:spPr>
      </p:sp>
      <p:sp>
        <p:nvSpPr>
          <p:cNvPr id="110" name="Shape 91"/>
          <p:cNvSpPr/>
          <p:nvPr/>
        </p:nvSpPr>
        <p:spPr>
          <a:xfrm>
            <a:off x="10040112" y="4727448"/>
            <a:ext cx="219456" cy="21945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1" name="Text 92"/>
          <p:cNvSpPr/>
          <p:nvPr/>
        </p:nvSpPr>
        <p:spPr>
          <a:xfrm>
            <a:off x="10040112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112" name="Text 93"/>
          <p:cNvSpPr/>
          <p:nvPr/>
        </p:nvSpPr>
        <p:spPr>
          <a:xfrm>
            <a:off x="10351008" y="4681728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150" dirty="0"/>
          </a:p>
        </p:txBody>
      </p:sp>
      <p:pic>
        <p:nvPicPr>
          <p:cNvPr id="113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98480" y="5065776"/>
            <a:ext cx="384048" cy="384048"/>
          </a:xfrm>
          <a:prstGeom prst="rect">
            <a:avLst/>
          </a:prstGeom>
        </p:spPr>
      </p:pic>
      <p:sp>
        <p:nvSpPr>
          <p:cNvPr id="114" name="Text 94"/>
          <p:cNvSpPr/>
          <p:nvPr/>
        </p:nvSpPr>
        <p:spPr>
          <a:xfrm>
            <a:off x="10049256" y="5522976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6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questions, our answers.</a:t>
            </a:r>
            <a:endParaRPr lang="en-US" sz="8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6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together!</a:t>
            </a:r>
            <a:endParaRPr lang="en-US" sz="860" dirty="0"/>
          </a:p>
        </p:txBody>
      </p:sp>
      <p:sp>
        <p:nvSpPr>
          <p:cNvPr id="115" name="Shape 95"/>
          <p:cNvSpPr/>
          <p:nvPr/>
        </p:nvSpPr>
        <p:spPr>
          <a:xfrm>
            <a:off x="365760" y="6281928"/>
            <a:ext cx="11460175" cy="502920"/>
          </a:xfrm>
          <a:prstGeom prst="rect">
            <a:avLst/>
          </a:prstGeom>
          <a:solidFill>
            <a:srgbClr val="0F2A44"/>
          </a:solidFill>
          <a:ln/>
        </p:spPr>
      </p:sp>
      <p:pic>
        <p:nvPicPr>
          <p:cNvPr id="116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377940"/>
            <a:ext cx="310896" cy="310896"/>
          </a:xfrm>
          <a:prstGeom prst="rect">
            <a:avLst/>
          </a:prstGeom>
        </p:spPr>
      </p:pic>
      <p:sp>
        <p:nvSpPr>
          <p:cNvPr id="117" name="Text 96"/>
          <p:cNvSpPr/>
          <p:nvPr/>
        </p:nvSpPr>
        <p:spPr>
          <a:xfrm>
            <a:off x="905256" y="6336792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118" name="Text 97"/>
          <p:cNvSpPr/>
          <p:nvPr/>
        </p:nvSpPr>
        <p:spPr>
          <a:xfrm>
            <a:off x="905256" y="6547104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scalable, standardised ETL platform</a:t>
            </a:r>
            <a:endParaRPr lang="en-US" sz="820" dirty="0"/>
          </a:p>
        </p:txBody>
      </p:sp>
      <p:pic>
        <p:nvPicPr>
          <p:cNvPr id="119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964" y="6377940"/>
            <a:ext cx="310896" cy="310896"/>
          </a:xfrm>
          <a:prstGeom prst="rect">
            <a:avLst/>
          </a:prstGeom>
        </p:spPr>
      </p:pic>
      <p:sp>
        <p:nvSpPr>
          <p:cNvPr id="120" name="Text 98"/>
          <p:cNvSpPr/>
          <p:nvPr/>
        </p:nvSpPr>
        <p:spPr>
          <a:xfrm>
            <a:off x="3770300" y="6336792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21" name="Text 99"/>
          <p:cNvSpPr/>
          <p:nvPr/>
        </p:nvSpPr>
        <p:spPr>
          <a:xfrm>
            <a:off x="3770300" y="6547104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• Phased • Low Risk</a:t>
            </a:r>
            <a:endParaRPr lang="en-US" sz="820" dirty="0"/>
          </a:p>
        </p:txBody>
      </p:sp>
      <p:pic>
        <p:nvPicPr>
          <p:cNvPr id="1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3008" y="6377940"/>
            <a:ext cx="310896" cy="310896"/>
          </a:xfrm>
          <a:prstGeom prst="rect">
            <a:avLst/>
          </a:prstGeom>
        </p:spPr>
      </p:pic>
      <p:sp>
        <p:nvSpPr>
          <p:cNvPr id="123" name="Text 100"/>
          <p:cNvSpPr/>
          <p:nvPr/>
        </p:nvSpPr>
        <p:spPr>
          <a:xfrm>
            <a:off x="6635344" y="6336792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</a:t>
            </a:r>
            <a:endParaRPr lang="en-US" sz="1100" dirty="0"/>
          </a:p>
        </p:txBody>
      </p:sp>
      <p:sp>
        <p:nvSpPr>
          <p:cNvPr id="124" name="Text 101"/>
          <p:cNvSpPr/>
          <p:nvPr/>
        </p:nvSpPr>
        <p:spPr>
          <a:xfrm>
            <a:off x="6635344" y="6547104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• Support • Deliver</a:t>
            </a:r>
            <a:endParaRPr lang="en-US" sz="820" dirty="0"/>
          </a:p>
        </p:txBody>
      </p:sp>
      <p:pic>
        <p:nvPicPr>
          <p:cNvPr id="125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8051" y="6377940"/>
            <a:ext cx="310896" cy="310896"/>
          </a:xfrm>
          <a:prstGeom prst="rect">
            <a:avLst/>
          </a:prstGeom>
        </p:spPr>
      </p:pic>
      <p:sp>
        <p:nvSpPr>
          <p:cNvPr id="126" name="Text 102"/>
          <p:cNvSpPr/>
          <p:nvPr/>
        </p:nvSpPr>
        <p:spPr>
          <a:xfrm>
            <a:off x="9500387" y="6336792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Outcome</a:t>
            </a:r>
            <a:endParaRPr lang="en-US" sz="1100" dirty="0"/>
          </a:p>
        </p:txBody>
      </p:sp>
      <p:sp>
        <p:nvSpPr>
          <p:cNvPr id="127" name="Text 103"/>
          <p:cNvSpPr/>
          <p:nvPr/>
        </p:nvSpPr>
        <p:spPr>
          <a:xfrm>
            <a:off x="9500387" y="6547104"/>
            <a:ext cx="23164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time-to-value for the business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348</Words>
  <Application>Microsoft Office PowerPoint</Application>
  <PresentationFormat>Widescreen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Pentaho to Apache Hop Migration - High Level Overview</dc:title>
  <dc:subject>PptxGenJS Presentation</dc:subject>
  <dc:creator>Indrajeet</dc:creator>
  <cp:lastModifiedBy>Indrajeet Kumar</cp:lastModifiedBy>
  <cp:revision>2</cp:revision>
  <dcterms:created xsi:type="dcterms:W3CDTF">2026-07-06T04:23:44Z</dcterms:created>
  <dcterms:modified xsi:type="dcterms:W3CDTF">2026-07-06T05:07:48Z</dcterms:modified>
</cp:coreProperties>
</file>